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els and data" id="{a432fff9-7946-915e-e301-c7dfbbd7be20}">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two datasets. The defect model is YOLO11s, trained on 1,769 labelled photos from the Roboflow Universe dataset casting_dataset_kaggle (CC BY 4.0). Every defect is marked with a box, across 8 types. On 174 test photos it never saw it scores mAP50 0.75, and 0.93 on cracks. The anomaly model is PatchCore. It only needs good parts: we gave it all 2,875 good pump impeller photos from the Kaggle casting product dataset (7,348 photos in total). On 524 test parts it reaches AUROC 0.96 and F1 0.88, and it draws a heat-map of anything unusual, even defect types it was never shown. Honest caveat if asked: the Roboflow set likely has near-duplicate copies across train and test, so 0.75 is somewhat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Team Translucent  ·  Singularity 2026, Track 3</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universe.roboflow.com/detect-casting-defect/casting_dataset_kaggle" TargetMode="External"/><Relationship Id="rId2" Type="http://schemas.openxmlformats.org/officeDocument/2006/relationships/hyperlink" Target="https://www.kaggle.com/datasets/ravirajsinh45/real-life-industrial-dataset-of-casting-product" TargetMode="Externa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Two models, two public casting datasets</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i="1" dirty="0">
                <a:solidFill>
                  <a:schemeClr val="accent5"/>
                </a:solidFill>
              </a:rPr>
              <a:t>Both look at photos of cast aluminium parts. Each one answers a different question.</a:t>
            </a:r>
            <a:endParaRPr lang="en-US" sz="1400" dirty="0"/>
          </a:p>
        </p:txBody>
      </p:sp>
      <p:sp>
        <p:nvSpPr>
          <p:cNvPr id="4" name="Defect model card"/>
          <p:cNvSpPr/>
          <p:nvPr/>
        </p:nvSpPr>
        <p:spPr>
          <a:xfrm>
            <a:off x="457200" y="1325880"/>
            <a:ext cx="3977640" cy="3291840"/>
          </a:xfrm>
          <a:prstGeom prst="roundRect">
            <a:avLst>
              <a:gd name="adj" fmla="val 2222"/>
            </a:avLst>
          </a:prstGeom>
          <a:solidFill>
            <a:schemeClr val="bg2"/>
          </a:solidFill>
          <a:ln w="12700">
            <a:solidFill>
              <a:schemeClr val="bg2"/>
            </a:solidFill>
            <a:prstDash val="solid"/>
          </a:ln>
        </p:spPr>
      </p:sp>
      <p:sp>
        <p:nvSpPr>
          <p:cNvPr id="5" name="Shape 3"/>
          <p:cNvSpPr/>
          <p:nvPr/>
        </p:nvSpPr>
        <p:spPr>
          <a:xfrm>
            <a:off x="685800" y="1527048"/>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85800" y="15270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280160" y="1463040"/>
            <a:ext cx="2971800" cy="594360"/>
          </a:xfrm>
          <a:prstGeom prst="rect">
            <a:avLst/>
          </a:prstGeom>
          <a:noFill/>
          <a:ln/>
        </p:spPr>
        <p:txBody>
          <a:bodyPr wrap="square" lIns="0" tIns="0" rIns="0" bIns="0" rtlCol="0" anchor="ctr"/>
          <a:lstStyle/>
          <a:p>
            <a:pPr indent="0" marL="0">
              <a:buNone/>
            </a:pPr>
            <a:r>
              <a:rPr lang="en-US" sz="1800" b="1" dirty="0">
                <a:solidFill>
                  <a:schemeClr val="tx1"/>
                </a:solidFill>
              </a:rPr>
              <a:t>Defect model</a:t>
            </a:r>
            <a:endParaRPr lang="en-US" sz="1800" dirty="0"/>
          </a:p>
          <a:p>
            <a:pPr indent="0" marL="0">
              <a:buNone/>
            </a:pPr>
            <a:r>
              <a:rPr lang="en-US" sz="1200" dirty="0">
                <a:solidFill>
                  <a:schemeClr val="accent5"/>
                </a:solidFill>
              </a:rPr>
              <a:t>YOLO11s finds, names and boxes each defect</a:t>
            </a:r>
            <a:endParaRPr lang="en-US" sz="1800" dirty="0"/>
          </a:p>
        </p:txBody>
      </p:sp>
      <p:sp>
        <p:nvSpPr>
          <p:cNvPr id="8" name="Text 6"/>
          <p:cNvSpPr txBox="1"/>
          <p:nvPr/>
        </p:nvSpPr>
        <p:spPr>
          <a:xfrm>
            <a:off x="685800" y="2194560"/>
            <a:ext cx="1463040" cy="64008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1,769</a:t>
            </a:r>
            <a:endParaRPr lang="en-US" sz="3600" dirty="0"/>
          </a:p>
        </p:txBody>
      </p:sp>
      <p:sp>
        <p:nvSpPr>
          <p:cNvPr id="9" name="Text 7"/>
          <p:cNvSpPr txBox="1"/>
          <p:nvPr/>
        </p:nvSpPr>
        <p:spPr>
          <a:xfrm>
            <a:off x="2148840" y="2194560"/>
            <a:ext cx="2057400" cy="640080"/>
          </a:xfrm>
          <a:prstGeom prst="rect">
            <a:avLst/>
          </a:prstGeom>
          <a:noFill/>
          <a:ln/>
        </p:spPr>
        <p:txBody>
          <a:bodyPr wrap="square" lIns="0" tIns="0" rIns="0" bIns="0" rtlCol="0" anchor="b"/>
          <a:lstStyle/>
          <a:p>
            <a:pPr indent="0" marL="0">
              <a:buNone/>
            </a:pPr>
            <a:r>
              <a:rPr lang="en-US" sz="1200" dirty="0">
                <a:solidFill>
                  <a:schemeClr val="tx1"/>
                </a:solidFill>
              </a:rPr>
              <a:t>labelled photos, every defect marked with a box</a:t>
            </a:r>
            <a:endParaRPr lang="en-US" sz="1200" dirty="0"/>
          </a:p>
        </p:txBody>
      </p:sp>
      <p:sp>
        <p:nvSpPr>
          <p:cNvPr id="10" name="Text 8"/>
          <p:cNvSpPr txBox="1"/>
          <p:nvPr/>
        </p:nvSpPr>
        <p:spPr>
          <a:xfrm>
            <a:off x="685800" y="2971800"/>
            <a:ext cx="3520440" cy="118872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Dataset  </a:t>
            </a:r>
            <a:pPr indent="0" marL="0">
              <a:spcAft>
                <a:spcPts val="400"/>
              </a:spcAft>
              <a:buNone/>
            </a:pPr>
            <a:r>
              <a:rPr lang="en-US" sz="1100" dirty="0">
                <a:solidFill>
                  <a:schemeClr val="tx1"/>
                </a:solidFill>
              </a:rPr>
              <a:t>casting_dataset_kaggle, Roboflow, CC BY 4.0</a:t>
            </a:r>
            <a:endParaRPr lang="en-US" sz="1100" dirty="0"/>
          </a:p>
          <a:p>
            <a:pPr indent="0" marL="0">
              <a:spcAft>
                <a:spcPts val="400"/>
              </a:spcAft>
              <a:buNone/>
            </a:pPr>
            <a:r>
              <a:rPr lang="en-US" sz="1100" b="1" dirty="0">
                <a:solidFill>
                  <a:schemeClr val="tx1"/>
                </a:solidFill>
              </a:rPr>
              <a:t>Split  </a:t>
            </a:r>
            <a:pPr indent="0" marL="0">
              <a:spcAft>
                <a:spcPts val="400"/>
              </a:spcAft>
              <a:buNone/>
            </a:pPr>
            <a:r>
              <a:rPr lang="en-US" sz="1100" dirty="0">
                <a:solidFill>
                  <a:schemeClr val="tx1"/>
                </a:solidFill>
              </a:rPr>
              <a:t>1,239 train · 356 validation · 174 test</a:t>
            </a:r>
            <a:endParaRPr lang="en-US" sz="1100" dirty="0"/>
          </a:p>
          <a:p>
            <a:pPr indent="0" marL="0">
              <a:spcAft>
                <a:spcPts val="400"/>
              </a:spcAft>
              <a:buNone/>
            </a:pPr>
            <a:r>
              <a:rPr lang="en-US" sz="1100" b="1" dirty="0">
                <a:solidFill>
                  <a:schemeClr val="tx1"/>
                </a:solidFill>
              </a:rPr>
              <a:t>Defects  </a:t>
            </a:r>
            <a:pPr indent="0" marL="0">
              <a:spcAft>
                <a:spcPts val="400"/>
              </a:spcAft>
              <a:buNone/>
            </a:pPr>
            <a:r>
              <a:rPr lang="en-US" sz="1100" dirty="0">
                <a:solidFill>
                  <a:schemeClr val="tx1"/>
                </a:solidFill>
              </a:rPr>
              <a:t>crack, scratch, blowholes, shrinkage, flash, scar, misrun, cold shot</a:t>
            </a:r>
            <a:endParaRPr lang="en-US" sz="1100" dirty="0"/>
          </a:p>
          <a:p>
            <a:pPr indent="0" marL="0">
              <a:spcAft>
                <a:spcPts val="400"/>
              </a:spcAft>
              <a:buNone/>
            </a:pPr>
            <a:r>
              <a:rPr lang="en-US" sz="1100" b="1" dirty="0">
                <a:solidFill>
                  <a:schemeClr val="tx1"/>
                </a:solidFill>
              </a:rPr>
              <a:t>Result  </a:t>
            </a:r>
            <a:pPr indent="0" marL="0">
              <a:spcAft>
                <a:spcPts val="400"/>
              </a:spcAft>
              <a:buNone/>
            </a:pPr>
            <a:r>
              <a:rPr lang="en-US" sz="1100" dirty="0">
                <a:solidFill>
                  <a:schemeClr val="tx1"/>
                </a:solidFill>
              </a:rPr>
              <a:t>mAP50 0.75 on unseen test photos (crack 0.93)</a:t>
            </a:r>
            <a:endParaRPr lang="en-US" sz="1100" dirty="0"/>
          </a:p>
        </p:txBody>
      </p:sp>
      <p:sp>
        <p:nvSpPr>
          <p:cNvPr id="11" name="Text 9"/>
          <p:cNvSpPr txBox="1"/>
          <p:nvPr/>
        </p:nvSpPr>
        <p:spPr>
          <a:xfrm>
            <a:off x="685800" y="4251960"/>
            <a:ext cx="3520440" cy="228600"/>
          </a:xfrm>
          <a:prstGeom prst="rect">
            <a:avLst/>
          </a:prstGeom>
          <a:noFill/>
          <a:ln/>
        </p:spPr>
        <p:txBody>
          <a:bodyPr wrap="square" lIns="0" tIns="0" rIns="0" bIns="0" rtlCol="0" anchor="t"/>
          <a:lstStyle/>
          <a:p>
            <a:pPr indent="0" marL="0">
              <a:buNone/>
            </a:pPr>
            <a:r>
              <a:rPr lang="en-US" sz="1000" b="1" dirty="0">
                <a:solidFill>
                  <a:schemeClr val="accent5"/>
                </a:solidFill>
              </a:rPr>
              <a:t>Source: </a:t>
            </a:r>
            <a:pPr indent="0" marL="0">
              <a:buNone/>
            </a:pPr>
            <a:r>
              <a:rPr lang="en-US" sz="10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universe.roboflow.com/detect-casting-defect</a:t>
            </a:r>
            <a:endParaRPr lang="en-US" sz="1000" dirty="0"/>
          </a:p>
        </p:txBody>
      </p:sp>
      <p:sp>
        <p:nvSpPr>
          <p:cNvPr id="12" name="Anomaly model card"/>
          <p:cNvSpPr/>
          <p:nvPr/>
        </p:nvSpPr>
        <p:spPr>
          <a:xfrm>
            <a:off x="4709160" y="1325880"/>
            <a:ext cx="3977640" cy="3291840"/>
          </a:xfrm>
          <a:prstGeom prst="roundRect">
            <a:avLst>
              <a:gd name="adj" fmla="val 2222"/>
            </a:avLst>
          </a:prstGeom>
          <a:solidFill>
            <a:schemeClr val="bg2"/>
          </a:solidFill>
          <a:ln w="12700">
            <a:solidFill>
              <a:schemeClr val="bg2"/>
            </a:solidFill>
            <a:prstDash val="solid"/>
          </a:ln>
        </p:spPr>
      </p:sp>
      <p:sp>
        <p:nvSpPr>
          <p:cNvPr id="13" name="Shape 11"/>
          <p:cNvSpPr/>
          <p:nvPr/>
        </p:nvSpPr>
        <p:spPr>
          <a:xfrm>
            <a:off x="4937760" y="1527048"/>
            <a:ext cx="457200" cy="457200"/>
          </a:xfrm>
          <a:prstGeom prst="ellipse">
            <a:avLst/>
          </a:prstGeom>
          <a:solidFill>
            <a:schemeClr val="accent2"/>
          </a:solidFill>
          <a:ln w="12700">
            <a:solidFill>
              <a:schemeClr val="accent2"/>
            </a:solidFill>
            <a:prstDash val="solid"/>
          </a:ln>
        </p:spPr>
      </p:sp>
      <p:sp>
        <p:nvSpPr>
          <p:cNvPr id="14" name="Text 12"/>
          <p:cNvSpPr txBox="1"/>
          <p:nvPr/>
        </p:nvSpPr>
        <p:spPr>
          <a:xfrm>
            <a:off x="4937760" y="15270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3"/>
          <p:cNvSpPr txBox="1"/>
          <p:nvPr/>
        </p:nvSpPr>
        <p:spPr>
          <a:xfrm>
            <a:off x="5532120" y="1463040"/>
            <a:ext cx="2971800" cy="594360"/>
          </a:xfrm>
          <a:prstGeom prst="rect">
            <a:avLst/>
          </a:prstGeom>
          <a:noFill/>
          <a:ln/>
        </p:spPr>
        <p:txBody>
          <a:bodyPr wrap="square" lIns="0" tIns="0" rIns="0" bIns="0" rtlCol="0" anchor="ctr"/>
          <a:lstStyle/>
          <a:p>
            <a:pPr indent="0" marL="0">
              <a:buNone/>
            </a:pPr>
            <a:r>
              <a:rPr lang="en-US" sz="1800" b="1" dirty="0">
                <a:solidFill>
                  <a:schemeClr val="tx1"/>
                </a:solidFill>
              </a:rPr>
              <a:t>Anomaly model</a:t>
            </a:r>
            <a:endParaRPr lang="en-US" sz="1800" dirty="0"/>
          </a:p>
          <a:p>
            <a:pPr indent="0" marL="0">
              <a:buNone/>
            </a:pPr>
            <a:r>
              <a:rPr lang="en-US" sz="1200" dirty="0">
                <a:solidFill>
                  <a:schemeClr val="accent5"/>
                </a:solidFill>
              </a:rPr>
              <a:t>PatchCore learns what a good part looks like</a:t>
            </a:r>
            <a:endParaRPr lang="en-US" sz="1800" dirty="0"/>
          </a:p>
        </p:txBody>
      </p:sp>
      <p:sp>
        <p:nvSpPr>
          <p:cNvPr id="16" name="Text 14"/>
          <p:cNvSpPr txBox="1"/>
          <p:nvPr/>
        </p:nvSpPr>
        <p:spPr>
          <a:xfrm>
            <a:off x="4937760" y="2194560"/>
            <a:ext cx="1463040" cy="64008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2,875</a:t>
            </a:r>
            <a:endParaRPr lang="en-US" sz="3600" dirty="0"/>
          </a:p>
        </p:txBody>
      </p:sp>
      <p:sp>
        <p:nvSpPr>
          <p:cNvPr id="17" name="Text 15"/>
          <p:cNvSpPr txBox="1"/>
          <p:nvPr/>
        </p:nvSpPr>
        <p:spPr>
          <a:xfrm>
            <a:off x="6400800" y="2194560"/>
            <a:ext cx="2057400" cy="640080"/>
          </a:xfrm>
          <a:prstGeom prst="rect">
            <a:avLst/>
          </a:prstGeom>
          <a:noFill/>
          <a:ln/>
        </p:spPr>
        <p:txBody>
          <a:bodyPr wrap="square" lIns="0" tIns="0" rIns="0" bIns="0" rtlCol="0" anchor="b"/>
          <a:lstStyle/>
          <a:p>
            <a:pPr indent="0" marL="0">
              <a:buNone/>
            </a:pPr>
            <a:r>
              <a:rPr lang="en-US" sz="1200" dirty="0">
                <a:solidFill>
                  <a:schemeClr val="tx1"/>
                </a:solidFill>
              </a:rPr>
              <a:t>good parts only, no labels needed</a:t>
            </a:r>
            <a:endParaRPr lang="en-US" sz="1200" dirty="0"/>
          </a:p>
        </p:txBody>
      </p:sp>
      <p:sp>
        <p:nvSpPr>
          <p:cNvPr id="18" name="Text 16"/>
          <p:cNvSpPr txBox="1"/>
          <p:nvPr/>
        </p:nvSpPr>
        <p:spPr>
          <a:xfrm>
            <a:off x="4937760" y="2971800"/>
            <a:ext cx="3520440" cy="118872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Dataset  </a:t>
            </a:r>
            <a:pPr indent="0" marL="0">
              <a:spcAft>
                <a:spcPts val="400"/>
              </a:spcAft>
              <a:buNone/>
            </a:pPr>
            <a:r>
              <a:rPr lang="en-US" sz="1100" dirty="0">
                <a:solidFill>
                  <a:schemeClr val="tx1"/>
                </a:solidFill>
              </a:rPr>
              <a:t>Casting product image data for quality inspection, Kaggle</a:t>
            </a:r>
            <a:endParaRPr lang="en-US" sz="1100" dirty="0"/>
          </a:p>
          <a:p>
            <a:pPr indent="0" marL="0">
              <a:spcAft>
                <a:spcPts val="400"/>
              </a:spcAft>
              <a:buNone/>
            </a:pPr>
            <a:r>
              <a:rPr lang="en-US" sz="1100" b="1" dirty="0">
                <a:solidFill>
                  <a:schemeClr val="tx1"/>
                </a:solidFill>
              </a:rPr>
              <a:t>Full set  </a:t>
            </a:r>
            <a:pPr indent="0" marL="0">
              <a:spcAft>
                <a:spcPts val="400"/>
              </a:spcAft>
              <a:buNone/>
            </a:pPr>
            <a:r>
              <a:rPr lang="en-US" sz="1100" dirty="0">
                <a:solidFill>
                  <a:schemeClr val="tx1"/>
                </a:solidFill>
              </a:rPr>
              <a:t>7,348 pump impeller photos; we used all 2,875 good ones</a:t>
            </a:r>
            <a:endParaRPr lang="en-US" sz="1100" dirty="0"/>
          </a:p>
          <a:p>
            <a:pPr indent="0" marL="0">
              <a:spcAft>
                <a:spcPts val="400"/>
              </a:spcAft>
              <a:buNone/>
            </a:pPr>
            <a:r>
              <a:rPr lang="en-US" sz="1100" b="1" dirty="0">
                <a:solidFill>
                  <a:schemeClr val="tx1"/>
                </a:solidFill>
              </a:rPr>
              <a:t>Test  </a:t>
            </a:r>
            <a:pPr indent="0" marL="0">
              <a:spcAft>
                <a:spcPts val="400"/>
              </a:spcAft>
              <a:buNone/>
            </a:pPr>
            <a:r>
              <a:rPr lang="en-US" sz="1100" dirty="0">
                <a:solidFill>
                  <a:schemeClr val="tx1"/>
                </a:solidFill>
              </a:rPr>
              <a:t>524 parts (262 good, 262 defective)</a:t>
            </a:r>
            <a:endParaRPr lang="en-US" sz="1100" dirty="0"/>
          </a:p>
          <a:p>
            <a:pPr indent="0" marL="0">
              <a:spcAft>
                <a:spcPts val="400"/>
              </a:spcAft>
              <a:buNone/>
            </a:pPr>
            <a:r>
              <a:rPr lang="en-US" sz="1100" b="1" dirty="0">
                <a:solidFill>
                  <a:schemeClr val="tx1"/>
                </a:solidFill>
              </a:rPr>
              <a:t>Result  </a:t>
            </a:r>
            <a:pPr indent="0" marL="0">
              <a:spcAft>
                <a:spcPts val="400"/>
              </a:spcAft>
              <a:buNone/>
            </a:pPr>
            <a:r>
              <a:rPr lang="en-US" sz="1100" dirty="0">
                <a:solidFill>
                  <a:schemeClr val="tx1"/>
                </a:solidFill>
              </a:rPr>
              <a:t>AUROC 0.96, F1 0.88, with a heat-map of the fault</a:t>
            </a:r>
            <a:endParaRPr lang="en-US" sz="1100" dirty="0"/>
          </a:p>
        </p:txBody>
      </p:sp>
      <p:sp>
        <p:nvSpPr>
          <p:cNvPr id="19" name="Text 17"/>
          <p:cNvSpPr txBox="1"/>
          <p:nvPr/>
        </p:nvSpPr>
        <p:spPr>
          <a:xfrm>
            <a:off x="4937760" y="4251960"/>
            <a:ext cx="3520440" cy="228600"/>
          </a:xfrm>
          <a:prstGeom prst="rect">
            <a:avLst/>
          </a:prstGeom>
          <a:noFill/>
          <a:ln/>
        </p:spPr>
        <p:txBody>
          <a:bodyPr wrap="square" lIns="0" tIns="0" rIns="0" bIns="0" rtlCol="0" anchor="t"/>
          <a:lstStyle/>
          <a:p>
            <a:pPr indent="0" marL="0">
              <a:buNone/>
            </a:pPr>
            <a:r>
              <a:rPr lang="en-US" sz="1000" b="1" dirty="0">
                <a:solidFill>
                  <a:schemeClr val="accent5"/>
                </a:solidFill>
              </a:rPr>
              <a:t>Source: </a:t>
            </a:r>
            <a:pPr indent="0" marL="0">
              <a:buNone/>
            </a:pPr>
            <a:r>
              <a:rPr lang="en-US" sz="10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kaggle.com/datasets/ravirajsinh45 (Ravirajsinh Dabhi)</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Team Translucent">
  <a:themeElements>
    <a:clrScheme name="Team Translucent">
      <a:dk1>
        <a:srgbClr val="1E2329"/>
      </a:dk1>
      <a:lt1>
        <a:srgbClr val="FFFFFF"/>
      </a:lt1>
      <a:dk2>
        <a:srgbClr val="2B3440"/>
      </a:dk2>
      <a:lt2>
        <a:srgbClr val="F1F3F5"/>
      </a:lt2>
      <a:accent1>
        <a:srgbClr val="E8590C"/>
      </a:accent1>
      <a:accent2>
        <a:srgbClr val="1C7C8C"/>
      </a:accent2>
      <a:accent3>
        <a:srgbClr val="8A94A3"/>
      </a:accent3>
      <a:accent4>
        <a:srgbClr val="F4A261"/>
      </a:accent4>
      <a:accent5>
        <a:srgbClr val="5C6B7A"/>
      </a:accent5>
      <a:accent6>
        <a:srgbClr val="2F9E44"/>
      </a:accent6>
      <a:hlink>
        <a:srgbClr val="1C7C8C"/>
      </a:hlink>
      <a:folHlink>
        <a:srgbClr val="5C6B7A"/>
      </a:folHlink>
    </a:clrScheme>
    <a:fontScheme name="Team Transluc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Translucent: AI casting inspection</dc:title>
  <dc:subject>PptxGenJS Presentation</dc:subject>
  <dc:creator>PptxGenJS</dc:creator>
  <cp:lastModifiedBy>PptxGenJS</cp:lastModifiedBy>
  <cp:revision>1</cp:revision>
  <dcterms:created xsi:type="dcterms:W3CDTF">2026-10-09T01:59:45Z</dcterms:created>
  <dcterms:modified xsi:type="dcterms:W3CDTF">2026-10-09T01:59:45Z</dcterms:modified>
</cp:coreProperties>
</file>